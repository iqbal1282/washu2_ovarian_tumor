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311" r:id="rId2"/>
    <p:sldId id="310" r:id="rId3"/>
    <p:sldId id="308" r:id="rId4"/>
    <p:sldId id="307" r:id="rId5"/>
    <p:sldId id="312" r:id="rId6"/>
    <p:sldId id="31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7EF"/>
    <a:srgbClr val="BA0C2F"/>
    <a:srgbClr val="215732"/>
    <a:srgbClr val="D7D2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82"/>
    <p:restoredTop sz="96327"/>
  </p:normalViewPr>
  <p:slideViewPr>
    <p:cSldViewPr snapToGrid="0">
      <p:cViewPr varScale="1">
        <p:scale>
          <a:sx n="106" d="100"/>
          <a:sy n="106" d="100"/>
        </p:scale>
        <p:origin x="106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EF865D-16BF-F547-895B-EE3A5AC7B88E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113271-2FFA-AB4D-8D66-48CC4178BD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368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D13FF-D28A-7AB8-7703-90B0685B3D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478" y="2126974"/>
            <a:ext cx="11718188" cy="2327205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F30E89-87EA-ADE3-4B68-BEE17A6E88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478" y="4588137"/>
            <a:ext cx="11718188" cy="161387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924427E-798D-B3C7-DA01-54E19CDF7064}"/>
              </a:ext>
            </a:extLst>
          </p:cNvPr>
          <p:cNvCxnSpPr>
            <a:cxnSpLocks/>
          </p:cNvCxnSpPr>
          <p:nvPr userDrawn="1"/>
        </p:nvCxnSpPr>
        <p:spPr>
          <a:xfrm>
            <a:off x="225335" y="6516158"/>
            <a:ext cx="11741331" cy="0"/>
          </a:xfrm>
          <a:prstGeom prst="line">
            <a:avLst/>
          </a:prstGeom>
          <a:ln w="41275">
            <a:solidFill>
              <a:srgbClr val="BA0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02E75344-2B5C-ADEA-40CD-F4C34DDBED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81001" y="857828"/>
            <a:ext cx="5229998" cy="1269146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297CEB-2E3F-844F-E18A-5E731F97C0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25334" y="6226219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B806D0-0353-89F0-765A-64B41B0633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223465" y="6226219"/>
            <a:ext cx="2743200" cy="365125"/>
          </a:xfrm>
        </p:spPr>
        <p:txBody>
          <a:bodyPr/>
          <a:lstStyle/>
          <a:p>
            <a:fld id="{6F728CAC-95E2-504F-94F2-79D011959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834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Red">
    <p:bg>
      <p:bgPr>
        <a:solidFill>
          <a:srgbClr val="BA0C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D13FF-D28A-7AB8-7703-90B0685B3D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478" y="2126974"/>
            <a:ext cx="11718188" cy="2327205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F30E89-87EA-ADE3-4B68-BEE17A6E88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478" y="4588137"/>
            <a:ext cx="11718188" cy="1613879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924427E-798D-B3C7-DA01-54E19CDF7064}"/>
              </a:ext>
            </a:extLst>
          </p:cNvPr>
          <p:cNvCxnSpPr>
            <a:cxnSpLocks/>
          </p:cNvCxnSpPr>
          <p:nvPr userDrawn="1"/>
        </p:nvCxnSpPr>
        <p:spPr>
          <a:xfrm>
            <a:off x="225335" y="6516158"/>
            <a:ext cx="11741331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54637CD1-6ABA-E622-19EA-273257BE97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81001" y="857828"/>
            <a:ext cx="5229998" cy="1269146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13A3E16-C434-14BD-F17E-A805DFC1EFC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25334" y="6226219"/>
            <a:ext cx="411480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71578170-C09B-19B0-0400-8DB7399026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223465" y="6226219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728CAC-95E2-504F-94F2-79D011959B5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88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armGray"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D13FF-D28A-7AB8-7703-90B0685B3D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478" y="2126974"/>
            <a:ext cx="11718188" cy="2327205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F30E89-87EA-ADE3-4B68-BEE17A6E88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478" y="4588137"/>
            <a:ext cx="11718188" cy="161387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924427E-798D-B3C7-DA01-54E19CDF7064}"/>
              </a:ext>
            </a:extLst>
          </p:cNvPr>
          <p:cNvCxnSpPr>
            <a:cxnSpLocks/>
          </p:cNvCxnSpPr>
          <p:nvPr userDrawn="1"/>
        </p:nvCxnSpPr>
        <p:spPr>
          <a:xfrm>
            <a:off x="225335" y="6516158"/>
            <a:ext cx="11741331" cy="0"/>
          </a:xfrm>
          <a:prstGeom prst="line">
            <a:avLst/>
          </a:prstGeom>
          <a:ln w="41275">
            <a:solidFill>
              <a:srgbClr val="BA0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02E75344-2B5C-ADEA-40CD-F4C34DDBED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81001" y="857828"/>
            <a:ext cx="5229998" cy="1269146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19F205-4786-BD73-B52D-491C06614D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25334" y="6226219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8DFB24-E7D3-E60E-A895-643FEE04FB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223465" y="6226219"/>
            <a:ext cx="2743200" cy="365125"/>
          </a:xfrm>
        </p:spPr>
        <p:txBody>
          <a:bodyPr/>
          <a:lstStyle/>
          <a:p>
            <a:fld id="{6F728CAC-95E2-504F-94F2-79D011959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953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0468-20D8-7543-4F56-11E67E667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D1D80-E5F0-DFE1-E9A9-675C138A5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B2AE37-ACB6-C41F-E81B-4D1408EFB7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92300" y="6311900"/>
            <a:ext cx="1725383" cy="41869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B3FF2A3-88A7-702A-D6F0-608737C6CABB}"/>
              </a:ext>
            </a:extLst>
          </p:cNvPr>
          <p:cNvCxnSpPr>
            <a:cxnSpLocks/>
          </p:cNvCxnSpPr>
          <p:nvPr userDrawn="1"/>
        </p:nvCxnSpPr>
        <p:spPr>
          <a:xfrm>
            <a:off x="191589" y="6516158"/>
            <a:ext cx="9562011" cy="0"/>
          </a:xfrm>
          <a:prstGeom prst="line">
            <a:avLst/>
          </a:prstGeom>
          <a:ln w="41275">
            <a:solidFill>
              <a:srgbClr val="BA0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3E881B-D6A8-4566-4E0C-9134858388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91589" y="6226219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608AAE-D588-F7B9-4DFF-05ACD8CD03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10400" y="6226219"/>
            <a:ext cx="2743200" cy="365125"/>
          </a:xfrm>
        </p:spPr>
        <p:txBody>
          <a:bodyPr/>
          <a:lstStyle/>
          <a:p>
            <a:fld id="{6F728CAC-95E2-504F-94F2-79D011959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084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Red">
    <p:bg>
      <p:bgPr>
        <a:solidFill>
          <a:srgbClr val="BA0C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0468-20D8-7543-4F56-11E67E667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D1D80-E5F0-DFE1-E9A9-675C138A5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B3FF2A3-88A7-702A-D6F0-608737C6CABB}"/>
              </a:ext>
            </a:extLst>
          </p:cNvPr>
          <p:cNvCxnSpPr>
            <a:cxnSpLocks/>
          </p:cNvCxnSpPr>
          <p:nvPr userDrawn="1"/>
        </p:nvCxnSpPr>
        <p:spPr>
          <a:xfrm>
            <a:off x="191589" y="6516158"/>
            <a:ext cx="9562011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ACAB4549-83F3-A681-A269-E2BBEE7A13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92298" y="6306811"/>
            <a:ext cx="1725383" cy="418693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9568F48-02B4-4CEB-BBFE-1205821D09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91589" y="6226219"/>
            <a:ext cx="411480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22A0D089-064B-3E7C-3687-2CD61BC1A8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10400" y="6226219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728CAC-95E2-504F-94F2-79D011959B5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704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0468-20D8-7543-4F56-11E67E667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D1D80-E5F0-DFE1-E9A9-675C138A5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B2AE37-ACB6-C41F-E81B-4D1408EFB7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92300" y="6311900"/>
            <a:ext cx="1725383" cy="41869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B3FF2A3-88A7-702A-D6F0-608737C6CABB}"/>
              </a:ext>
            </a:extLst>
          </p:cNvPr>
          <p:cNvCxnSpPr>
            <a:cxnSpLocks/>
          </p:cNvCxnSpPr>
          <p:nvPr userDrawn="1"/>
        </p:nvCxnSpPr>
        <p:spPr>
          <a:xfrm>
            <a:off x="191589" y="6516158"/>
            <a:ext cx="9562011" cy="0"/>
          </a:xfrm>
          <a:prstGeom prst="line">
            <a:avLst/>
          </a:prstGeom>
          <a:ln w="41275">
            <a:solidFill>
              <a:srgbClr val="215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7F7715-AB89-2453-CB7F-E3A60189F4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91589" y="6226219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D09F2B-1FC4-486B-625A-F72E2C7BC3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10400" y="6226219"/>
            <a:ext cx="2743200" cy="365125"/>
          </a:xfrm>
        </p:spPr>
        <p:txBody>
          <a:bodyPr/>
          <a:lstStyle/>
          <a:p>
            <a:fld id="{6F728CAC-95E2-504F-94F2-79D011959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106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Warm Gray"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0468-20D8-7543-4F56-11E67E667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D1D80-E5F0-DFE1-E9A9-675C138A5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B2AE37-ACB6-C41F-E81B-4D1408EFB7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92300" y="6311900"/>
            <a:ext cx="1725383" cy="41869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B3FF2A3-88A7-702A-D6F0-608737C6CABB}"/>
              </a:ext>
            </a:extLst>
          </p:cNvPr>
          <p:cNvCxnSpPr>
            <a:cxnSpLocks/>
          </p:cNvCxnSpPr>
          <p:nvPr userDrawn="1"/>
        </p:nvCxnSpPr>
        <p:spPr>
          <a:xfrm>
            <a:off x="191589" y="6516158"/>
            <a:ext cx="9562011" cy="0"/>
          </a:xfrm>
          <a:prstGeom prst="line">
            <a:avLst/>
          </a:prstGeom>
          <a:ln w="41275">
            <a:solidFill>
              <a:srgbClr val="BA0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9ADDB2-C793-126E-BF2C-DFB79E6029A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91589" y="6226219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97A44-7BD0-10F0-A45A-9CD6C04CB1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10400" y="6226219"/>
            <a:ext cx="2743200" cy="365125"/>
          </a:xfrm>
        </p:spPr>
        <p:txBody>
          <a:bodyPr/>
          <a:lstStyle/>
          <a:p>
            <a:fld id="{6F728CAC-95E2-504F-94F2-79D011959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099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F5852-2A05-D79E-69DA-893349EF8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7978518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C24EB3-2BDF-5F10-2300-94C9862CD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0" name="Picture 9" descr="A red and black logo&#10;&#10;Description automatically generated">
            <a:extLst>
              <a:ext uri="{FF2B5EF4-FFF2-40B4-BE49-F238E27FC236}">
                <a16:creationId xmlns:a16="http://schemas.microsoft.com/office/drawing/2014/main" id="{DE955E39-6135-4993-140E-21B671780A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0826" y="1235799"/>
            <a:ext cx="3853248" cy="4386401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448189-4D53-91AA-AAC3-3629AC36069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1850" y="6226219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A98041-D752-7023-A093-96DE9C3B74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04250" y="6226219"/>
            <a:ext cx="2743200" cy="365125"/>
          </a:xfrm>
        </p:spPr>
        <p:txBody>
          <a:bodyPr/>
          <a:lstStyle/>
          <a:p>
            <a:fld id="{6F728CAC-95E2-504F-94F2-79D011959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332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Red">
    <p:bg>
      <p:bgPr>
        <a:solidFill>
          <a:srgbClr val="BA0C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F5852-2A05-D79E-69DA-893349EF8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7978518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C24EB3-2BDF-5F10-2300-94C9862CD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3BAF761D-4642-3DC2-A359-88287F864A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13575" y="1227545"/>
            <a:ext cx="3867750" cy="440291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B84725-C388-7679-A102-B75617A941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1850" y="6226219"/>
            <a:ext cx="411480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953DC818-D4E2-D5DE-DAA7-C72405DFD4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04250" y="6226219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728CAC-95E2-504F-94F2-79D011959B5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774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183D0-8820-5952-F73B-5E0787C07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829F4-693D-0200-AB82-10627DC4C7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DB4AD8-976D-B301-EBA8-A8F878C6C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A6A7810-3ED4-E175-D4E2-DBA51BFEAEFC}"/>
              </a:ext>
            </a:extLst>
          </p:cNvPr>
          <p:cNvCxnSpPr>
            <a:cxnSpLocks/>
          </p:cNvCxnSpPr>
          <p:nvPr userDrawn="1"/>
        </p:nvCxnSpPr>
        <p:spPr>
          <a:xfrm>
            <a:off x="191589" y="6516158"/>
            <a:ext cx="9562011" cy="0"/>
          </a:xfrm>
          <a:prstGeom prst="line">
            <a:avLst/>
          </a:prstGeom>
          <a:ln w="41275">
            <a:solidFill>
              <a:srgbClr val="BA0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AD1F267-1382-540E-401B-6020F31575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92300" y="6311900"/>
            <a:ext cx="1725383" cy="418693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1CF69BE-308C-7CD1-AF46-522E8F540A1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91589" y="6226219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5914AC9C-44BA-D088-C828-2DD800C2DE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10400" y="6226219"/>
            <a:ext cx="2743200" cy="365125"/>
          </a:xfrm>
        </p:spPr>
        <p:txBody>
          <a:bodyPr/>
          <a:lstStyle/>
          <a:p>
            <a:fld id="{6F728CAC-95E2-504F-94F2-79D011959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270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183D0-8820-5952-F73B-5E0787C07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829F4-693D-0200-AB82-10627DC4C7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DB4AD8-976D-B301-EBA8-A8F878C6C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A6A7810-3ED4-E175-D4E2-DBA51BFEAEFC}"/>
              </a:ext>
            </a:extLst>
          </p:cNvPr>
          <p:cNvCxnSpPr>
            <a:cxnSpLocks/>
          </p:cNvCxnSpPr>
          <p:nvPr userDrawn="1"/>
        </p:nvCxnSpPr>
        <p:spPr>
          <a:xfrm>
            <a:off x="191589" y="6516158"/>
            <a:ext cx="9562011" cy="0"/>
          </a:xfrm>
          <a:prstGeom prst="line">
            <a:avLst/>
          </a:prstGeom>
          <a:ln w="41275">
            <a:solidFill>
              <a:srgbClr val="215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AD1F267-1382-540E-401B-6020F31575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92300" y="6311900"/>
            <a:ext cx="1725383" cy="418693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2AFF800-A8C8-E0FC-37AC-D41285ABBF0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91589" y="6226219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83406969-1319-931B-5E1C-4AC120705D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10400" y="6226219"/>
            <a:ext cx="2743200" cy="365125"/>
          </a:xfrm>
        </p:spPr>
        <p:txBody>
          <a:bodyPr/>
          <a:lstStyle/>
          <a:p>
            <a:fld id="{6F728CAC-95E2-504F-94F2-79D011959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514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_WarmGray"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183D0-8820-5952-F73B-5E0787C07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829F4-693D-0200-AB82-10627DC4C7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DB4AD8-976D-B301-EBA8-A8F878C6C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A6A7810-3ED4-E175-D4E2-DBA51BFEAEFC}"/>
              </a:ext>
            </a:extLst>
          </p:cNvPr>
          <p:cNvCxnSpPr>
            <a:cxnSpLocks/>
          </p:cNvCxnSpPr>
          <p:nvPr userDrawn="1"/>
        </p:nvCxnSpPr>
        <p:spPr>
          <a:xfrm>
            <a:off x="191589" y="6516158"/>
            <a:ext cx="9562011" cy="0"/>
          </a:xfrm>
          <a:prstGeom prst="line">
            <a:avLst/>
          </a:prstGeom>
          <a:ln w="41275">
            <a:solidFill>
              <a:srgbClr val="BA0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AD1F267-1382-540E-401B-6020F31575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92300" y="6311900"/>
            <a:ext cx="1725383" cy="418693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A3F2522-49C8-F427-CBDE-AD8FE07774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91589" y="6226219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2F623CC8-C78B-EB57-8B76-8B0E41BEFB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10400" y="6226219"/>
            <a:ext cx="2743200" cy="365125"/>
          </a:xfrm>
        </p:spPr>
        <p:txBody>
          <a:bodyPr/>
          <a:lstStyle/>
          <a:p>
            <a:fld id="{6F728CAC-95E2-504F-94F2-79D011959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9678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5A0D3-F015-1A84-6847-7AF472C20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BFC02B-CFDD-0201-399C-F756302DB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solidFill>
            <a:srgbClr val="BA0C2F"/>
          </a:solidFill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05ED00-4F03-E3FE-AC12-EFD8EF582E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29FF07-0EC6-346C-EC82-364A0D1C02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solidFill>
            <a:srgbClr val="BA0C2F"/>
          </a:solidFill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E7522F-A1D9-D6DF-87B4-2AC54C3944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ED25B4F-480A-3A50-E16C-5F53A7D9F738}"/>
              </a:ext>
            </a:extLst>
          </p:cNvPr>
          <p:cNvCxnSpPr>
            <a:cxnSpLocks/>
          </p:cNvCxnSpPr>
          <p:nvPr userDrawn="1"/>
        </p:nvCxnSpPr>
        <p:spPr>
          <a:xfrm>
            <a:off x="191589" y="6516158"/>
            <a:ext cx="9562011" cy="0"/>
          </a:xfrm>
          <a:prstGeom prst="line">
            <a:avLst/>
          </a:prstGeom>
          <a:ln w="41275">
            <a:solidFill>
              <a:srgbClr val="215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B117D674-6F31-F9BE-01EE-A555E1DCC7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92300" y="6311900"/>
            <a:ext cx="1725383" cy="418693"/>
          </a:xfrm>
          <a:prstGeom prst="rect">
            <a:avLst/>
          </a:prstGeom>
        </p:spPr>
      </p:pic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91A7CD0C-1693-14F4-8003-070C585921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91589" y="6226219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869191B-DB70-7DA6-A89C-97FA6EFADA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10400" y="6226219"/>
            <a:ext cx="2743200" cy="365125"/>
          </a:xfrm>
        </p:spPr>
        <p:txBody>
          <a:bodyPr/>
          <a:lstStyle/>
          <a:p>
            <a:fld id="{6F728CAC-95E2-504F-94F2-79D011959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3279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8D5C6A-DE7D-E7FE-500A-63EB9FF22C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92300" y="6311900"/>
            <a:ext cx="1725383" cy="418693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888E3FD-D8F2-45D3-C363-F40E271A67AB}"/>
              </a:ext>
            </a:extLst>
          </p:cNvPr>
          <p:cNvCxnSpPr>
            <a:cxnSpLocks/>
          </p:cNvCxnSpPr>
          <p:nvPr userDrawn="1"/>
        </p:nvCxnSpPr>
        <p:spPr>
          <a:xfrm>
            <a:off x="191589" y="6516158"/>
            <a:ext cx="9562011" cy="0"/>
          </a:xfrm>
          <a:prstGeom prst="line">
            <a:avLst/>
          </a:prstGeom>
          <a:ln w="41275">
            <a:solidFill>
              <a:srgbClr val="BA0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65E09F4-FD09-C359-E1D9-1964FB0E2FC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2016" y="492369"/>
            <a:ext cx="11007968" cy="5576621"/>
          </a:xfrm>
          <a:ln w="6350">
            <a:solidFill>
              <a:schemeClr val="accent1">
                <a:shade val="15000"/>
              </a:schemeClr>
            </a:solidFill>
          </a:ln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76C4E93-7B2A-576E-2466-4299D69249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91589" y="6226219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62574022-36DD-F357-3D56-F5BB15EC0B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10400" y="6226219"/>
            <a:ext cx="2743200" cy="365125"/>
          </a:xfrm>
        </p:spPr>
        <p:txBody>
          <a:bodyPr/>
          <a:lstStyle/>
          <a:p>
            <a:fld id="{6F728CAC-95E2-504F-94F2-79D011959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5016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Red">
    <p:bg>
      <p:bgPr>
        <a:solidFill>
          <a:srgbClr val="BA0C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1544C4-1D7A-D5C0-633F-7C9DB72B6C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92298" y="6306811"/>
            <a:ext cx="1725383" cy="41869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FEB5B50-A117-0BD7-E079-DFF18AA85524}"/>
              </a:ext>
            </a:extLst>
          </p:cNvPr>
          <p:cNvCxnSpPr>
            <a:cxnSpLocks/>
          </p:cNvCxnSpPr>
          <p:nvPr userDrawn="1"/>
        </p:nvCxnSpPr>
        <p:spPr>
          <a:xfrm>
            <a:off x="191589" y="6516158"/>
            <a:ext cx="9562011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218A23-8089-7E86-E214-85F21AFE49B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2016" y="492369"/>
            <a:ext cx="11007968" cy="5576621"/>
          </a:xfrm>
          <a:solidFill>
            <a:schemeClr val="bg1"/>
          </a:solidFill>
          <a:ln w="6350">
            <a:solidFill>
              <a:schemeClr val="accent1">
                <a:shade val="15000"/>
              </a:schemeClr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584A817-D18E-3CF2-0B0E-E90C1A89DF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91589" y="6226219"/>
            <a:ext cx="411480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521E0FC0-A75A-2239-80DD-95742DBE67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10400" y="6226219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728CAC-95E2-504F-94F2-79D011959B5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5158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WarmGray"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8D5C6A-DE7D-E7FE-500A-63EB9FF22C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92300" y="6311900"/>
            <a:ext cx="1725383" cy="418693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888E3FD-D8F2-45D3-C363-F40E271A67AB}"/>
              </a:ext>
            </a:extLst>
          </p:cNvPr>
          <p:cNvCxnSpPr>
            <a:cxnSpLocks/>
          </p:cNvCxnSpPr>
          <p:nvPr userDrawn="1"/>
        </p:nvCxnSpPr>
        <p:spPr>
          <a:xfrm>
            <a:off x="191589" y="6516158"/>
            <a:ext cx="9562011" cy="0"/>
          </a:xfrm>
          <a:prstGeom prst="line">
            <a:avLst/>
          </a:prstGeom>
          <a:ln w="41275">
            <a:solidFill>
              <a:srgbClr val="BA0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7C357BE-05C4-720E-1460-B36F0BEA78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2016" y="492369"/>
            <a:ext cx="11007968" cy="5576621"/>
          </a:xfrm>
          <a:solidFill>
            <a:srgbClr val="FAF7EF"/>
          </a:solidFill>
          <a:ln w="6350">
            <a:solidFill>
              <a:schemeClr val="accent1">
                <a:shade val="15000"/>
              </a:schemeClr>
            </a:solidFill>
          </a:ln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B18C425-A020-63DC-363B-B6D437BC499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91589" y="6226219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1610EDE2-69A1-44CD-E064-1DAF44CFAE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10400" y="6226219"/>
            <a:ext cx="2743200" cy="365125"/>
          </a:xfrm>
        </p:spPr>
        <p:txBody>
          <a:bodyPr/>
          <a:lstStyle/>
          <a:p>
            <a:fld id="{6F728CAC-95E2-504F-94F2-79D011959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7916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8D5C6A-DE7D-E7FE-500A-63EB9FF22C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92300" y="6311900"/>
            <a:ext cx="1725383" cy="418693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888E3FD-D8F2-45D3-C363-F40E271A67AB}"/>
              </a:ext>
            </a:extLst>
          </p:cNvPr>
          <p:cNvCxnSpPr>
            <a:cxnSpLocks/>
          </p:cNvCxnSpPr>
          <p:nvPr userDrawn="1"/>
        </p:nvCxnSpPr>
        <p:spPr>
          <a:xfrm>
            <a:off x="191589" y="6516158"/>
            <a:ext cx="9562011" cy="0"/>
          </a:xfrm>
          <a:prstGeom prst="line">
            <a:avLst/>
          </a:prstGeom>
          <a:ln w="41275">
            <a:solidFill>
              <a:srgbClr val="BA0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402535A8-881A-1821-AFB2-4558E7EA5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FC16C6A-75B0-01A6-5112-11C0FA971EE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99524" y="1937716"/>
            <a:ext cx="3192952" cy="4127155"/>
          </a:xfrm>
          <a:ln w="6350">
            <a:solidFill>
              <a:schemeClr val="accent1">
                <a:shade val="15000"/>
              </a:schemeClr>
            </a:solidFill>
          </a:ln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59B28FC-8AE1-1822-B994-0BBE64C57AD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9786" y="1941835"/>
            <a:ext cx="3192952" cy="4127155"/>
          </a:xfrm>
          <a:ln w="6350">
            <a:solidFill>
              <a:schemeClr val="accent1">
                <a:shade val="15000"/>
              </a:schemeClr>
            </a:solidFill>
          </a:ln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9C017CB-310B-A91B-6010-BB7342521D3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59262" y="1937716"/>
            <a:ext cx="3192952" cy="4127155"/>
          </a:xfrm>
          <a:ln w="6350">
            <a:solidFill>
              <a:schemeClr val="accent1">
                <a:shade val="15000"/>
              </a:schemeClr>
            </a:solidFill>
          </a:ln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FFC0BF42-B17E-E11F-97B0-D0995DB8A2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91589" y="6226219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594FD3B0-736C-D079-3A34-CEE9B054082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7010400" y="6226219"/>
            <a:ext cx="2743200" cy="365125"/>
          </a:xfrm>
        </p:spPr>
        <p:txBody>
          <a:bodyPr/>
          <a:lstStyle/>
          <a:p>
            <a:fld id="{6F728CAC-95E2-504F-94F2-79D011959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8149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Photo - Flo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F7DBA3D-71BF-5B49-BDFA-2FB7BB9887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1951" y="276223"/>
            <a:ext cx="11468100" cy="4535535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FC1046-3F25-4443-A1BD-47CD75DC0C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5600" y="5220103"/>
            <a:ext cx="11474451" cy="678362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en-US" dirty="0"/>
              <a:t>Click to edit title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C0E1416-4FE4-1717-A49E-33314065BCFA}"/>
              </a:ext>
            </a:extLst>
          </p:cNvPr>
          <p:cNvCxnSpPr>
            <a:cxnSpLocks/>
          </p:cNvCxnSpPr>
          <p:nvPr userDrawn="1"/>
        </p:nvCxnSpPr>
        <p:spPr>
          <a:xfrm>
            <a:off x="191589" y="6516158"/>
            <a:ext cx="9562011" cy="0"/>
          </a:xfrm>
          <a:prstGeom prst="line">
            <a:avLst/>
          </a:prstGeom>
          <a:ln w="41275">
            <a:solidFill>
              <a:srgbClr val="BA0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55A9B7FF-424D-822A-7198-CF6964F384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92300" y="6311900"/>
            <a:ext cx="1725383" cy="418693"/>
          </a:xfrm>
          <a:prstGeom prst="rect">
            <a:avLst/>
          </a:prstGeom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742BABC-4CA0-0785-8198-F4F1471F7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1589" y="6226219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98ADFD65-4DA8-4D77-393C-3DA740176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6226219"/>
            <a:ext cx="2743200" cy="365125"/>
          </a:xfrm>
        </p:spPr>
        <p:txBody>
          <a:bodyPr/>
          <a:lstStyle/>
          <a:p>
            <a:fld id="{6F728CAC-95E2-504F-94F2-79D011959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1476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har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B2368-B289-3106-A35B-2E292B017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590" y="457200"/>
            <a:ext cx="4580436" cy="1600200"/>
          </a:xfrm>
          <a:solidFill>
            <a:schemeClr val="bg1"/>
          </a:solidFill>
        </p:spPr>
        <p:txBody>
          <a:bodyPr anchor="b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01E81-21A3-412A-F59B-CB423D813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02B8A7-4F7F-BECB-4FD7-F9EF8C2EC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0066" y="2150076"/>
            <a:ext cx="4561960" cy="371891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4EEB45-30CC-3745-9113-680D1E6774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92300" y="6311900"/>
            <a:ext cx="1725383" cy="418693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41E5309-5557-0E79-F99F-7A5601853555}"/>
              </a:ext>
            </a:extLst>
          </p:cNvPr>
          <p:cNvCxnSpPr>
            <a:cxnSpLocks/>
          </p:cNvCxnSpPr>
          <p:nvPr userDrawn="1"/>
        </p:nvCxnSpPr>
        <p:spPr>
          <a:xfrm>
            <a:off x="191589" y="6516158"/>
            <a:ext cx="9562011" cy="0"/>
          </a:xfrm>
          <a:prstGeom prst="line">
            <a:avLst/>
          </a:prstGeom>
          <a:ln w="41275">
            <a:solidFill>
              <a:srgbClr val="BA0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3B64A20-FE80-4A81-EEED-A702BEB74A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91589" y="6226219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D4C88DDC-8498-E6F3-E126-E6E72F4590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10400" y="6226219"/>
            <a:ext cx="2743200" cy="365125"/>
          </a:xfrm>
        </p:spPr>
        <p:txBody>
          <a:bodyPr/>
          <a:lstStyle/>
          <a:p>
            <a:fld id="{6F728CAC-95E2-504F-94F2-79D011959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283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ontent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6774A99-FB31-3917-5498-70229700F903}"/>
              </a:ext>
            </a:extLst>
          </p:cNvPr>
          <p:cNvSpPr/>
          <p:nvPr userDrawn="1"/>
        </p:nvSpPr>
        <p:spPr>
          <a:xfrm>
            <a:off x="0" y="-1"/>
            <a:ext cx="5183187" cy="6858000"/>
          </a:xfrm>
          <a:prstGeom prst="rect">
            <a:avLst/>
          </a:prstGeom>
          <a:solidFill>
            <a:srgbClr val="BA0C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1B5E86-C141-5B32-158C-3FE320989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276" y="457200"/>
            <a:ext cx="4596713" cy="1507519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1A586C-9F47-723F-FCE6-E3C8573266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438561" y="457200"/>
            <a:ext cx="6432163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EB362D-43C9-4271-2678-5B67CCAE64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1276" y="2057400"/>
            <a:ext cx="4596713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AC3CB1-6B15-6CFD-3858-626D8CDB02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92300" y="6311900"/>
            <a:ext cx="1725383" cy="418693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5AC99A5-B8D8-5C36-0A85-058A5EBD7FD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91589" y="6226219"/>
            <a:ext cx="411480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2655D43E-8B01-A8D1-02FF-22CAEFF6D9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10400" y="6226219"/>
            <a:ext cx="2743200" cy="365125"/>
          </a:xfrm>
        </p:spPr>
        <p:txBody>
          <a:bodyPr/>
          <a:lstStyle/>
          <a:p>
            <a:fld id="{6F728CAC-95E2-504F-94F2-79D011959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4487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idebar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6774A99-FB31-3917-5498-70229700F903}"/>
              </a:ext>
            </a:extLst>
          </p:cNvPr>
          <p:cNvSpPr/>
          <p:nvPr userDrawn="1"/>
        </p:nvSpPr>
        <p:spPr>
          <a:xfrm>
            <a:off x="0" y="-1"/>
            <a:ext cx="3484605" cy="6858000"/>
          </a:xfrm>
          <a:prstGeom prst="rect">
            <a:avLst/>
          </a:prstGeom>
          <a:solidFill>
            <a:srgbClr val="2157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1B5E86-C141-5B32-158C-3FE320989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277" y="457200"/>
            <a:ext cx="2854410" cy="150751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1A586C-9F47-723F-FCE6-E3C8573266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05881" y="457200"/>
            <a:ext cx="8064843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EB362D-43C9-4271-2678-5B67CCAE64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1276" y="2057400"/>
            <a:ext cx="2854410" cy="42545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AC3CB1-6B15-6CFD-3858-626D8CDB02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92300" y="6311900"/>
            <a:ext cx="1725383" cy="418693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242B787-CEE3-45A1-11A7-A9744770E5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91589" y="6226219"/>
            <a:ext cx="411480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6EAF5E34-392C-973A-C450-9230AA2C02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10400" y="6226219"/>
            <a:ext cx="2743200" cy="365125"/>
          </a:xfrm>
        </p:spPr>
        <p:txBody>
          <a:bodyPr/>
          <a:lstStyle/>
          <a:p>
            <a:fld id="{6F728CAC-95E2-504F-94F2-79D011959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1920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 userDrawn="1"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rgbClr val="BA0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672D13-8C0B-3A47-B9B7-7AA71736C41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51371" y="849086"/>
            <a:ext cx="3788229" cy="5159828"/>
          </a:xfrm>
        </p:spPr>
        <p:txBody>
          <a:bodyPr tIns="0"/>
          <a:lstStyle>
            <a:lvl1pPr marL="0" indent="0" algn="l">
              <a:buNone/>
              <a:defRPr sz="3200" spc="0">
                <a:solidFill>
                  <a:schemeClr val="bg2"/>
                </a:solidFill>
              </a:defRPr>
            </a:lvl1pPr>
            <a:lvl2pPr algn="l">
              <a:defRPr sz="2400" spc="0">
                <a:solidFill>
                  <a:schemeClr val="bg2"/>
                </a:solidFill>
              </a:defRPr>
            </a:lvl2pPr>
            <a:lvl3pPr algn="l">
              <a:defRPr sz="2000" spc="0">
                <a:solidFill>
                  <a:schemeClr val="bg2"/>
                </a:solidFill>
              </a:defRPr>
            </a:lvl3pPr>
            <a:lvl4pPr algn="l">
              <a:defRPr sz="2000" spc="0">
                <a:solidFill>
                  <a:schemeClr val="bg2"/>
                </a:solidFill>
              </a:defRPr>
            </a:lvl4pPr>
            <a:lvl5pPr algn="l">
              <a:defRPr sz="1600" spc="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Supporting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D825E-D77A-BC4B-A290-2A9BD3E2CF4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21093" y="1894114"/>
            <a:ext cx="7264221" cy="4495800"/>
          </a:xfrm>
        </p:spPr>
        <p:txBody>
          <a:bodyPr/>
          <a:lstStyle>
            <a:lvl1pPr marL="0" indent="0" algn="l">
              <a:buNone/>
              <a:defRPr sz="3200" spc="0"/>
            </a:lvl1pPr>
            <a:lvl2pPr marL="295275" indent="-285750" algn="l">
              <a:buFont typeface="Arial" panose="020B0604020202020204" pitchFamily="34" charset="0"/>
              <a:buChar char="•"/>
              <a:defRPr sz="2400" spc="0"/>
            </a:lvl2pPr>
            <a:lvl3pPr marL="295275" indent="-285750" algn="l">
              <a:buFont typeface="Arial" panose="020B0604020202020204" pitchFamily="34" charset="0"/>
              <a:buChar char="•"/>
              <a:defRPr sz="1600" spc="0"/>
            </a:lvl3pPr>
            <a:lvl4pPr marL="631825" indent="342900" algn="l">
              <a:buFont typeface="Arial" panose="020B0604020202020204" pitchFamily="34" charset="0"/>
              <a:buChar char="•"/>
              <a:tabLst/>
              <a:defRPr sz="2000" spc="0"/>
            </a:lvl4pPr>
            <a:lvl5pPr marL="631825" indent="-349250" algn="l">
              <a:buFont typeface="Arial" panose="020B0604020202020204" pitchFamily="34" charset="0"/>
              <a:buChar char="•"/>
              <a:defRPr sz="2000" spc="0"/>
            </a:lvl5pPr>
          </a:lstStyle>
          <a:p>
            <a:pPr lvl="0"/>
            <a:r>
              <a:rPr lang="en-US" dirty="0"/>
              <a:t>Body Text styles</a:t>
            </a:r>
          </a:p>
          <a:p>
            <a:pPr lvl="1"/>
            <a:r>
              <a:rPr lang="en-US" dirty="0"/>
              <a:t>Second level</a:t>
            </a:r>
          </a:p>
          <a:p>
            <a:pPr lvl="4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D45B53D-2299-E860-2EB6-A9633C359A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92298" y="6306811"/>
            <a:ext cx="1725383" cy="418693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BD205FDA-271D-FDC7-8F3B-97C3FE7D17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1093" y="270654"/>
            <a:ext cx="7264221" cy="1325563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AC20DA5D-ECC7-73BF-D0A7-C31CABEB708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7010400" y="6226219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728CAC-95E2-504F-94F2-79D011959B5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C3B521-0ACC-5E6A-588B-A08499F4949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91589" y="6226219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7010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5120">
          <p15:clr>
            <a:srgbClr val="FBAE40"/>
          </p15:clr>
        </p15:guide>
        <p15:guide id="4" pos="576">
          <p15:clr>
            <a:srgbClr val="FBAE40"/>
          </p15:clr>
        </p15:guide>
        <p15:guide id="6" orient="horz" pos="2256">
          <p15:clr>
            <a:srgbClr val="FBAE40"/>
          </p15:clr>
        </p15:guide>
        <p15:guide id="7" orient="horz" pos="624">
          <p15:clr>
            <a:srgbClr val="FBAE40"/>
          </p15:clr>
        </p15:guide>
        <p15:guide id="9" orient="horz" pos="3984">
          <p15:clr>
            <a:srgbClr val="FBAE40"/>
          </p15:clr>
        </p15:guide>
        <p15:guide id="10" pos="7456">
          <p15:clr>
            <a:srgbClr val="FBAE40"/>
          </p15:clr>
        </p15:guide>
        <p15:guide id="11" pos="224">
          <p15:clr>
            <a:srgbClr val="FBAE40"/>
          </p15:clr>
        </p15:guide>
        <p15:guide id="12" pos="4736">
          <p15:clr>
            <a:srgbClr val="FBAE40"/>
          </p15:clr>
        </p15:guide>
        <p15:guide id="13" pos="537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B2E1BF-CDC4-0325-7C2A-E50F4422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790DC-63B5-8A38-96D1-78FBEA678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853E16-05BD-C831-2CCA-1E72478B12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7696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EA555F-6EC7-B0A8-2440-B3CD72A9E2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1769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728CAC-95E2-504F-94F2-79D011959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768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0" r:id="rId4"/>
    <p:sldLayoutId id="2147483664" r:id="rId5"/>
    <p:sldLayoutId id="2147483661" r:id="rId6"/>
    <p:sldLayoutId id="2147483666" r:id="rId7"/>
    <p:sldLayoutId id="2147483651" r:id="rId8"/>
    <p:sldLayoutId id="2147483665" r:id="rId9"/>
    <p:sldLayoutId id="2147483652" r:id="rId10"/>
    <p:sldLayoutId id="2147483667" r:id="rId11"/>
    <p:sldLayoutId id="2147483671" r:id="rId12"/>
    <p:sldLayoutId id="2147483653" r:id="rId13"/>
    <p:sldLayoutId id="2147483655" r:id="rId14"/>
    <p:sldLayoutId id="2147483668" r:id="rId15"/>
    <p:sldLayoutId id="2147483673" r:id="rId16"/>
    <p:sldLayoutId id="2147483670" r:id="rId17"/>
    <p:sldLayoutId id="2147483669" r:id="rId18"/>
    <p:sldLayoutId id="2147483656" r:id="rId19"/>
    <p:sldLayoutId id="2147483657" r:id="rId20"/>
    <p:sldLayoutId id="2147483672" r:id="rId21"/>
    <p:sldLayoutId id="2147483674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8A478-1836-E7E9-91EE-928A63C50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02938-9D2F-DB70-E613-33C734D7B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487" y="878511"/>
            <a:ext cx="8662879" cy="1904136"/>
          </a:xfrm>
        </p:spPr>
        <p:txBody>
          <a:bodyPr>
            <a:normAutofit/>
          </a:bodyPr>
          <a:lstStyle/>
          <a:p>
            <a:pPr algn="ctr"/>
            <a:r>
              <a:rPr lang="en-US" sz="3000" dirty="0"/>
              <a:t>Robust Multimodal Deep Learning Model For Ovarian Tumor Classification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8A6BC9-FAA7-82BA-9B82-5483A1EDEA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4523" y="4146487"/>
            <a:ext cx="8149312" cy="1780326"/>
          </a:xfrm>
        </p:spPr>
        <p:txBody>
          <a:bodyPr>
            <a:normAutofit/>
          </a:bodyPr>
          <a:lstStyle/>
          <a:p>
            <a:pPr algn="ctr"/>
            <a:r>
              <a:rPr lang="en-US" i="1" dirty="0"/>
              <a:t>Md Iqbal Hossain</a:t>
            </a:r>
          </a:p>
          <a:p>
            <a:pPr algn="ctr"/>
            <a:r>
              <a:rPr lang="en-US" i="1" dirty="0"/>
              <a:t>07/25/25</a:t>
            </a:r>
          </a:p>
          <a:p>
            <a:pPr algn="ctr"/>
            <a:r>
              <a:rPr lang="en-US" i="1" dirty="0"/>
              <a:t>Dr. Quing Zhu</a:t>
            </a:r>
          </a:p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E99E6F-B794-A832-3596-F44B01E31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08" y="6410329"/>
            <a:ext cx="3696754" cy="33008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2479FE-B4E5-D5D2-9AAF-F5743039C0ED}"/>
              </a:ext>
            </a:extLst>
          </p:cNvPr>
          <p:cNvCxnSpPr>
            <a:cxnSpLocks/>
          </p:cNvCxnSpPr>
          <p:nvPr/>
        </p:nvCxnSpPr>
        <p:spPr>
          <a:xfrm>
            <a:off x="9202733" y="0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5505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BB8E5-CF9C-7AB0-6BE6-B7DB8FEB5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908A2-17D1-40E2-AC52-559FAF6AE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</a:t>
            </a:r>
          </a:p>
        </p:txBody>
      </p:sp>
      <p:pic>
        <p:nvPicPr>
          <p:cNvPr id="5" name="Content Placeholder 4" descr="An ultrasound of a baby&#10;&#10;AI-generated content may be incorrect.">
            <a:extLst>
              <a:ext uri="{FF2B5EF4-FFF2-40B4-BE49-F238E27FC236}">
                <a16:creationId xmlns:a16="http://schemas.microsoft.com/office/drawing/2014/main" id="{BC494D15-FA60-A468-EE50-50A135E254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98396" y="1004936"/>
            <a:ext cx="2472074" cy="2238860"/>
          </a:xfr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7BF20364-FDF7-D1C0-1E3A-0A8B4757D692}"/>
              </a:ext>
            </a:extLst>
          </p:cNvPr>
          <p:cNvSpPr txBox="1"/>
          <p:nvPr/>
        </p:nvSpPr>
        <p:spPr>
          <a:xfrm>
            <a:off x="8315610" y="3294593"/>
            <a:ext cx="92118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US Image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9200C3-5C01-2172-E406-A61D0D208725}"/>
              </a:ext>
            </a:extLst>
          </p:cNvPr>
          <p:cNvSpPr txBox="1"/>
          <p:nvPr/>
        </p:nvSpPr>
        <p:spPr>
          <a:xfrm>
            <a:off x="968721" y="1766468"/>
            <a:ext cx="525101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 a </a:t>
            </a:r>
            <a:r>
              <a:rPr lang="en-US" b="1" dirty="0"/>
              <a:t>robust multi-modal deep learning framework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Integrate diagnostic features from </a:t>
            </a:r>
            <a:r>
              <a:rPr lang="en-US" b="1" dirty="0"/>
              <a:t>ultrasound (US)</a:t>
            </a:r>
            <a:r>
              <a:rPr lang="en-US" dirty="0"/>
              <a:t> and </a:t>
            </a:r>
            <a:r>
              <a:rPr lang="en-US" b="1" dirty="0"/>
              <a:t>photoacoustic (PA) imaging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Enable </a:t>
            </a:r>
            <a:r>
              <a:rPr lang="en-US" b="1" dirty="0"/>
              <a:t>accurate detection</a:t>
            </a:r>
            <a:r>
              <a:rPr lang="en-US" dirty="0"/>
              <a:t> and </a:t>
            </a:r>
            <a:r>
              <a:rPr lang="en-US" b="1" dirty="0"/>
              <a:t>classification</a:t>
            </a:r>
            <a:r>
              <a:rPr lang="en-US" dirty="0"/>
              <a:t> of ovarian cancer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Leverage </a:t>
            </a:r>
            <a:r>
              <a:rPr lang="en-US" b="1" dirty="0"/>
              <a:t>complementary strengths</a:t>
            </a:r>
            <a:r>
              <a:rPr lang="en-US" dirty="0"/>
              <a:t> of US and PA modalities for enhanced diagnosis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DDB595F-4E86-F0A7-3AAE-FE6CA0B225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77"/>
          <a:stretch>
            <a:fillRect/>
          </a:stretch>
        </p:blipFill>
        <p:spPr bwMode="auto">
          <a:xfrm>
            <a:off x="7545160" y="3883607"/>
            <a:ext cx="2578545" cy="1860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14E0F4C-481D-CAF6-0F3B-258D57A392AD}"/>
              </a:ext>
            </a:extLst>
          </p:cNvPr>
          <p:cNvSpPr txBox="1"/>
          <p:nvPr/>
        </p:nvSpPr>
        <p:spPr>
          <a:xfrm>
            <a:off x="8191690" y="5779109"/>
            <a:ext cx="11690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PA Image</a:t>
            </a:r>
          </a:p>
        </p:txBody>
      </p:sp>
    </p:spTree>
    <p:extLst>
      <p:ext uri="{BB962C8B-B14F-4D97-AF65-F5344CB8AC3E}">
        <p14:creationId xmlns:p14="http://schemas.microsoft.com/office/powerpoint/2010/main" val="579570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E0190-BCFE-3C70-837C-026BDE307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Architecture</a:t>
            </a:r>
          </a:p>
        </p:txBody>
      </p:sp>
      <p:pic>
        <p:nvPicPr>
          <p:cNvPr id="5" name="Content Placeholder 4" descr="An ultrasound of a baby&#10;&#10;AI-generated content may be incorrect.">
            <a:extLst>
              <a:ext uri="{FF2B5EF4-FFF2-40B4-BE49-F238E27FC236}">
                <a16:creationId xmlns:a16="http://schemas.microsoft.com/office/drawing/2014/main" id="{EA435BF1-A7DD-3365-E96E-E30984DE15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2329" y="2102787"/>
            <a:ext cx="1463642" cy="1325563"/>
          </a:xfrm>
        </p:spPr>
      </p:pic>
      <p:pic>
        <p:nvPicPr>
          <p:cNvPr id="7" name="Picture 6" descr="A white circle on a black background&#10;&#10;AI-generated content may be incorrect.">
            <a:extLst>
              <a:ext uri="{FF2B5EF4-FFF2-40B4-BE49-F238E27FC236}">
                <a16:creationId xmlns:a16="http://schemas.microsoft.com/office/drawing/2014/main" id="{6CC01796-5D33-C2E4-EF2E-7BFC40A65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858" y="1378366"/>
            <a:ext cx="1463643" cy="1463643"/>
          </a:xfrm>
          <a:prstGeom prst="rect">
            <a:avLst/>
          </a:prstGeom>
        </p:spPr>
      </p:pic>
      <p:pic>
        <p:nvPicPr>
          <p:cNvPr id="11" name="Picture 10" descr="A white circle on a black background&#10;&#10;AI-generated content may be incorrect.">
            <a:extLst>
              <a:ext uri="{FF2B5EF4-FFF2-40B4-BE49-F238E27FC236}">
                <a16:creationId xmlns:a16="http://schemas.microsoft.com/office/drawing/2014/main" id="{2338DB4E-E444-9507-75D9-413CD03B43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6554" y="3193697"/>
            <a:ext cx="1463644" cy="1463644"/>
          </a:xfrm>
          <a:prstGeom prst="rect">
            <a:avLst/>
          </a:prstGeom>
        </p:spPr>
      </p:pic>
      <p:sp>
        <p:nvSpPr>
          <p:cNvPr id="12" name="Cube 11">
            <a:extLst>
              <a:ext uri="{FF2B5EF4-FFF2-40B4-BE49-F238E27FC236}">
                <a16:creationId xmlns:a16="http://schemas.microsoft.com/office/drawing/2014/main" id="{F7B09F5A-8FAD-628A-4BDE-4A62E7AC4D08}"/>
              </a:ext>
            </a:extLst>
          </p:cNvPr>
          <p:cNvSpPr/>
          <p:nvPr/>
        </p:nvSpPr>
        <p:spPr>
          <a:xfrm>
            <a:off x="2716041" y="2159219"/>
            <a:ext cx="152400" cy="1174599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ube 12">
            <a:extLst>
              <a:ext uri="{FF2B5EF4-FFF2-40B4-BE49-F238E27FC236}">
                <a16:creationId xmlns:a16="http://schemas.microsoft.com/office/drawing/2014/main" id="{2F44A4B2-AF94-4D84-6E6C-9C0F377FC7EC}"/>
              </a:ext>
            </a:extLst>
          </p:cNvPr>
          <p:cNvSpPr/>
          <p:nvPr/>
        </p:nvSpPr>
        <p:spPr>
          <a:xfrm>
            <a:off x="3161169" y="2394521"/>
            <a:ext cx="152400" cy="660903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ube 13">
            <a:extLst>
              <a:ext uri="{FF2B5EF4-FFF2-40B4-BE49-F238E27FC236}">
                <a16:creationId xmlns:a16="http://schemas.microsoft.com/office/drawing/2014/main" id="{F799AE92-393F-1100-A906-978A735677F0}"/>
              </a:ext>
            </a:extLst>
          </p:cNvPr>
          <p:cNvSpPr/>
          <p:nvPr/>
        </p:nvSpPr>
        <p:spPr>
          <a:xfrm>
            <a:off x="3606298" y="2159218"/>
            <a:ext cx="152400" cy="1174599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ube 14">
            <a:extLst>
              <a:ext uri="{FF2B5EF4-FFF2-40B4-BE49-F238E27FC236}">
                <a16:creationId xmlns:a16="http://schemas.microsoft.com/office/drawing/2014/main" id="{74025905-134D-6ED3-331B-74ED06048049}"/>
              </a:ext>
            </a:extLst>
          </p:cNvPr>
          <p:cNvSpPr/>
          <p:nvPr/>
        </p:nvSpPr>
        <p:spPr>
          <a:xfrm>
            <a:off x="3400335" y="2256248"/>
            <a:ext cx="135797" cy="937449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be 15">
            <a:extLst>
              <a:ext uri="{FF2B5EF4-FFF2-40B4-BE49-F238E27FC236}">
                <a16:creationId xmlns:a16="http://schemas.microsoft.com/office/drawing/2014/main" id="{3ACDEC44-A0BC-131E-5349-0D2666728F4D}"/>
              </a:ext>
            </a:extLst>
          </p:cNvPr>
          <p:cNvSpPr/>
          <p:nvPr/>
        </p:nvSpPr>
        <p:spPr>
          <a:xfrm>
            <a:off x="2922002" y="2256248"/>
            <a:ext cx="152400" cy="937449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908600C-CAD6-D867-4290-8F3C65B1EBFB}"/>
              </a:ext>
            </a:extLst>
          </p:cNvPr>
          <p:cNvCxnSpPr>
            <a:stCxn id="5" idx="3"/>
            <a:endCxn id="12" idx="2"/>
          </p:cNvCxnSpPr>
          <p:nvPr/>
        </p:nvCxnSpPr>
        <p:spPr>
          <a:xfrm>
            <a:off x="2365971" y="2765569"/>
            <a:ext cx="3500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6F27405-4627-134D-3D89-B77A2DC16C18}"/>
              </a:ext>
            </a:extLst>
          </p:cNvPr>
          <p:cNvCxnSpPr/>
          <p:nvPr/>
        </p:nvCxnSpPr>
        <p:spPr>
          <a:xfrm flipV="1">
            <a:off x="3829616" y="1749462"/>
            <a:ext cx="588475" cy="9755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95C82E9-E2CA-7BD6-0394-01E3251B250B}"/>
              </a:ext>
            </a:extLst>
          </p:cNvPr>
          <p:cNvCxnSpPr/>
          <p:nvPr/>
        </p:nvCxnSpPr>
        <p:spPr>
          <a:xfrm>
            <a:off x="3829616" y="2881145"/>
            <a:ext cx="525101" cy="1044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2C21704-B4E3-9515-86E1-6DD1D4483CBF}"/>
              </a:ext>
            </a:extLst>
          </p:cNvPr>
          <p:cNvSpPr txBox="1"/>
          <p:nvPr/>
        </p:nvSpPr>
        <p:spPr>
          <a:xfrm>
            <a:off x="2172077" y="3471339"/>
            <a:ext cx="2130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Signed Distance Function Neural Network</a:t>
            </a:r>
          </a:p>
        </p:txBody>
      </p:sp>
      <p:sp>
        <p:nvSpPr>
          <p:cNvPr id="26" name="Cube 25">
            <a:extLst>
              <a:ext uri="{FF2B5EF4-FFF2-40B4-BE49-F238E27FC236}">
                <a16:creationId xmlns:a16="http://schemas.microsoft.com/office/drawing/2014/main" id="{B1A8B1C1-1225-BD54-CB52-DF39682B8A9B}"/>
              </a:ext>
            </a:extLst>
          </p:cNvPr>
          <p:cNvSpPr/>
          <p:nvPr/>
        </p:nvSpPr>
        <p:spPr>
          <a:xfrm>
            <a:off x="6735780" y="1632215"/>
            <a:ext cx="152400" cy="1174599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Cube 26">
            <a:extLst>
              <a:ext uri="{FF2B5EF4-FFF2-40B4-BE49-F238E27FC236}">
                <a16:creationId xmlns:a16="http://schemas.microsoft.com/office/drawing/2014/main" id="{FEE23C9F-A35B-F4F6-9C75-12EBE99CC50A}"/>
              </a:ext>
            </a:extLst>
          </p:cNvPr>
          <p:cNvSpPr/>
          <p:nvPr/>
        </p:nvSpPr>
        <p:spPr>
          <a:xfrm>
            <a:off x="7180908" y="1867517"/>
            <a:ext cx="152400" cy="660903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ube 27">
            <a:extLst>
              <a:ext uri="{FF2B5EF4-FFF2-40B4-BE49-F238E27FC236}">
                <a16:creationId xmlns:a16="http://schemas.microsoft.com/office/drawing/2014/main" id="{0935CCCB-F188-E827-10C0-6BA0377E5A16}"/>
              </a:ext>
            </a:extLst>
          </p:cNvPr>
          <p:cNvSpPr/>
          <p:nvPr/>
        </p:nvSpPr>
        <p:spPr>
          <a:xfrm>
            <a:off x="7647171" y="2069783"/>
            <a:ext cx="93552" cy="239469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ube 28">
            <a:extLst>
              <a:ext uri="{FF2B5EF4-FFF2-40B4-BE49-F238E27FC236}">
                <a16:creationId xmlns:a16="http://schemas.microsoft.com/office/drawing/2014/main" id="{550239C4-899C-67E7-50B4-A74C4ADD21CB}"/>
              </a:ext>
            </a:extLst>
          </p:cNvPr>
          <p:cNvSpPr/>
          <p:nvPr/>
        </p:nvSpPr>
        <p:spPr>
          <a:xfrm>
            <a:off x="7398951" y="2005790"/>
            <a:ext cx="135798" cy="348111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ube 29">
            <a:extLst>
              <a:ext uri="{FF2B5EF4-FFF2-40B4-BE49-F238E27FC236}">
                <a16:creationId xmlns:a16="http://schemas.microsoft.com/office/drawing/2014/main" id="{B377817D-C555-BC63-BB4D-E0AE00619EC7}"/>
              </a:ext>
            </a:extLst>
          </p:cNvPr>
          <p:cNvSpPr/>
          <p:nvPr/>
        </p:nvSpPr>
        <p:spPr>
          <a:xfrm>
            <a:off x="6941741" y="1729244"/>
            <a:ext cx="152400" cy="937449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ube 40">
            <a:extLst>
              <a:ext uri="{FF2B5EF4-FFF2-40B4-BE49-F238E27FC236}">
                <a16:creationId xmlns:a16="http://schemas.microsoft.com/office/drawing/2014/main" id="{D0926075-FC08-FC88-D925-AE56395EBA5D}"/>
              </a:ext>
            </a:extLst>
          </p:cNvPr>
          <p:cNvSpPr/>
          <p:nvPr/>
        </p:nvSpPr>
        <p:spPr>
          <a:xfrm>
            <a:off x="6735780" y="3193697"/>
            <a:ext cx="152400" cy="1174599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Cube 41">
            <a:extLst>
              <a:ext uri="{FF2B5EF4-FFF2-40B4-BE49-F238E27FC236}">
                <a16:creationId xmlns:a16="http://schemas.microsoft.com/office/drawing/2014/main" id="{157E294C-FDBE-BCCA-1358-1F848DF8E860}"/>
              </a:ext>
            </a:extLst>
          </p:cNvPr>
          <p:cNvSpPr/>
          <p:nvPr/>
        </p:nvSpPr>
        <p:spPr>
          <a:xfrm>
            <a:off x="7180908" y="3428999"/>
            <a:ext cx="152400" cy="660903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ube 42">
            <a:extLst>
              <a:ext uri="{FF2B5EF4-FFF2-40B4-BE49-F238E27FC236}">
                <a16:creationId xmlns:a16="http://schemas.microsoft.com/office/drawing/2014/main" id="{FF3C0FEE-B79C-BCC9-A5C1-7C9349CBB9DA}"/>
              </a:ext>
            </a:extLst>
          </p:cNvPr>
          <p:cNvSpPr/>
          <p:nvPr/>
        </p:nvSpPr>
        <p:spPr>
          <a:xfrm>
            <a:off x="7647171" y="3631265"/>
            <a:ext cx="93552" cy="239469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Cube 43">
            <a:extLst>
              <a:ext uri="{FF2B5EF4-FFF2-40B4-BE49-F238E27FC236}">
                <a16:creationId xmlns:a16="http://schemas.microsoft.com/office/drawing/2014/main" id="{EC761E93-0130-7D6A-8856-2D421DF8D7DD}"/>
              </a:ext>
            </a:extLst>
          </p:cNvPr>
          <p:cNvSpPr/>
          <p:nvPr/>
        </p:nvSpPr>
        <p:spPr>
          <a:xfrm>
            <a:off x="7398951" y="3567272"/>
            <a:ext cx="135798" cy="348111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Cube 44">
            <a:extLst>
              <a:ext uri="{FF2B5EF4-FFF2-40B4-BE49-F238E27FC236}">
                <a16:creationId xmlns:a16="http://schemas.microsoft.com/office/drawing/2014/main" id="{FC7EE43D-33B8-C591-5D5E-153DFBD27552}"/>
              </a:ext>
            </a:extLst>
          </p:cNvPr>
          <p:cNvSpPr/>
          <p:nvPr/>
        </p:nvSpPr>
        <p:spPr>
          <a:xfrm>
            <a:off x="6941741" y="3290726"/>
            <a:ext cx="152400" cy="937449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Cube 45">
            <a:extLst>
              <a:ext uri="{FF2B5EF4-FFF2-40B4-BE49-F238E27FC236}">
                <a16:creationId xmlns:a16="http://schemas.microsoft.com/office/drawing/2014/main" id="{D05FE544-BB99-6B0A-0264-2A92E7BA7C43}"/>
              </a:ext>
            </a:extLst>
          </p:cNvPr>
          <p:cNvSpPr/>
          <p:nvPr/>
        </p:nvSpPr>
        <p:spPr>
          <a:xfrm>
            <a:off x="6735780" y="4846161"/>
            <a:ext cx="152400" cy="1174599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Cube 46">
            <a:extLst>
              <a:ext uri="{FF2B5EF4-FFF2-40B4-BE49-F238E27FC236}">
                <a16:creationId xmlns:a16="http://schemas.microsoft.com/office/drawing/2014/main" id="{64B48EDF-BB99-14D0-4EFA-9A4A4D21B4A4}"/>
              </a:ext>
            </a:extLst>
          </p:cNvPr>
          <p:cNvSpPr/>
          <p:nvPr/>
        </p:nvSpPr>
        <p:spPr>
          <a:xfrm>
            <a:off x="7180908" y="5081463"/>
            <a:ext cx="152400" cy="660903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ube 47">
            <a:extLst>
              <a:ext uri="{FF2B5EF4-FFF2-40B4-BE49-F238E27FC236}">
                <a16:creationId xmlns:a16="http://schemas.microsoft.com/office/drawing/2014/main" id="{D64A8D33-E7D8-B12A-D5ED-1F0AA7B8EFD3}"/>
              </a:ext>
            </a:extLst>
          </p:cNvPr>
          <p:cNvSpPr/>
          <p:nvPr/>
        </p:nvSpPr>
        <p:spPr>
          <a:xfrm>
            <a:off x="7647171" y="5283729"/>
            <a:ext cx="93552" cy="239469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Cube 48">
            <a:extLst>
              <a:ext uri="{FF2B5EF4-FFF2-40B4-BE49-F238E27FC236}">
                <a16:creationId xmlns:a16="http://schemas.microsoft.com/office/drawing/2014/main" id="{50B8C22D-03D3-D84A-FDD5-CF8137A9E5A1}"/>
              </a:ext>
            </a:extLst>
          </p:cNvPr>
          <p:cNvSpPr/>
          <p:nvPr/>
        </p:nvSpPr>
        <p:spPr>
          <a:xfrm>
            <a:off x="7398951" y="5219736"/>
            <a:ext cx="135798" cy="348111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ube 49">
            <a:extLst>
              <a:ext uri="{FF2B5EF4-FFF2-40B4-BE49-F238E27FC236}">
                <a16:creationId xmlns:a16="http://schemas.microsoft.com/office/drawing/2014/main" id="{15EC0CAA-766A-67F2-3EEA-A53BE9CD10C1}"/>
              </a:ext>
            </a:extLst>
          </p:cNvPr>
          <p:cNvSpPr/>
          <p:nvPr/>
        </p:nvSpPr>
        <p:spPr>
          <a:xfrm>
            <a:off x="6941741" y="4943190"/>
            <a:ext cx="152400" cy="937449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52B756C9-C43E-D64A-36BB-9BDE72485054}"/>
              </a:ext>
            </a:extLst>
          </p:cNvPr>
          <p:cNvCxnSpPr>
            <a:stCxn id="5" idx="2"/>
          </p:cNvCxnSpPr>
          <p:nvPr/>
        </p:nvCxnSpPr>
        <p:spPr>
          <a:xfrm rot="16200000" flipH="1">
            <a:off x="3088038" y="1974461"/>
            <a:ext cx="2003729" cy="49115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967E18D-A5CE-1E7B-AA9D-7CD1B2819B68}"/>
              </a:ext>
            </a:extLst>
          </p:cNvPr>
          <p:cNvCxnSpPr/>
          <p:nvPr/>
        </p:nvCxnSpPr>
        <p:spPr>
          <a:xfrm>
            <a:off x="6070348" y="3759450"/>
            <a:ext cx="5160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D73BFF5-A39F-03A1-6477-97B98DDDE918}"/>
              </a:ext>
            </a:extLst>
          </p:cNvPr>
          <p:cNvCxnSpPr/>
          <p:nvPr/>
        </p:nvCxnSpPr>
        <p:spPr>
          <a:xfrm>
            <a:off x="6029608" y="2314156"/>
            <a:ext cx="5160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ube 56">
            <a:extLst>
              <a:ext uri="{FF2B5EF4-FFF2-40B4-BE49-F238E27FC236}">
                <a16:creationId xmlns:a16="http://schemas.microsoft.com/office/drawing/2014/main" id="{3BA30818-6E5B-E5A1-32A0-2441B58279B4}"/>
              </a:ext>
            </a:extLst>
          </p:cNvPr>
          <p:cNvSpPr/>
          <p:nvPr/>
        </p:nvSpPr>
        <p:spPr>
          <a:xfrm>
            <a:off x="8586085" y="3290726"/>
            <a:ext cx="201438" cy="799176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D9219544-FD27-6D3F-7DF9-A2400C90D127}"/>
              </a:ext>
            </a:extLst>
          </p:cNvPr>
          <p:cNvCxnSpPr>
            <a:endCxn id="57" idx="0"/>
          </p:cNvCxnSpPr>
          <p:nvPr/>
        </p:nvCxnSpPr>
        <p:spPr>
          <a:xfrm rot="16200000" flipH="1">
            <a:off x="7729756" y="2308497"/>
            <a:ext cx="1110881" cy="853576"/>
          </a:xfrm>
          <a:prstGeom prst="bentConnector3">
            <a:avLst>
              <a:gd name="adj1" fmla="val 28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AD9B87A7-E5AB-61AC-F8F7-A57C497FFE40}"/>
              </a:ext>
            </a:extLst>
          </p:cNvPr>
          <p:cNvCxnSpPr>
            <a:cxnSpLocks/>
            <a:endCxn id="57" idx="3"/>
          </p:cNvCxnSpPr>
          <p:nvPr/>
        </p:nvCxnSpPr>
        <p:spPr>
          <a:xfrm rot="5400000" flipH="1" flipV="1">
            <a:off x="7599009" y="4349299"/>
            <a:ext cx="1322012" cy="803218"/>
          </a:xfrm>
          <a:prstGeom prst="bentConnector3">
            <a:avLst>
              <a:gd name="adj1" fmla="val 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87E05E0-B62B-E846-BD0B-9DF9B63B2BDA}"/>
              </a:ext>
            </a:extLst>
          </p:cNvPr>
          <p:cNvCxnSpPr/>
          <p:nvPr/>
        </p:nvCxnSpPr>
        <p:spPr>
          <a:xfrm>
            <a:off x="7948943" y="3759450"/>
            <a:ext cx="5613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ube 69">
            <a:extLst>
              <a:ext uri="{FF2B5EF4-FFF2-40B4-BE49-F238E27FC236}">
                <a16:creationId xmlns:a16="http://schemas.microsoft.com/office/drawing/2014/main" id="{A9D1D8F4-AE89-BE0F-2B5E-AA7034F8ACA6}"/>
              </a:ext>
            </a:extLst>
          </p:cNvPr>
          <p:cNvSpPr/>
          <p:nvPr/>
        </p:nvSpPr>
        <p:spPr>
          <a:xfrm>
            <a:off x="8892781" y="3428348"/>
            <a:ext cx="201438" cy="566211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Cube 70">
            <a:extLst>
              <a:ext uri="{FF2B5EF4-FFF2-40B4-BE49-F238E27FC236}">
                <a16:creationId xmlns:a16="http://schemas.microsoft.com/office/drawing/2014/main" id="{0C85B181-D3C9-55F9-380A-FCA619F02399}"/>
              </a:ext>
            </a:extLst>
          </p:cNvPr>
          <p:cNvSpPr/>
          <p:nvPr/>
        </p:nvSpPr>
        <p:spPr>
          <a:xfrm>
            <a:off x="9180227" y="3581217"/>
            <a:ext cx="175392" cy="303463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EB0A4B64-0F4A-9CC5-1B31-6022B02313CB}"/>
              </a:ext>
            </a:extLst>
          </p:cNvPr>
          <p:cNvSpPr/>
          <p:nvPr/>
        </p:nvSpPr>
        <p:spPr>
          <a:xfrm>
            <a:off x="10049346" y="3275429"/>
            <a:ext cx="1195056" cy="8720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Benign </a:t>
            </a:r>
          </a:p>
          <a:p>
            <a:pPr algn="ctr"/>
            <a:r>
              <a:rPr lang="en-US" sz="1200" dirty="0"/>
              <a:t>or </a:t>
            </a:r>
          </a:p>
          <a:p>
            <a:pPr algn="ctr"/>
            <a:r>
              <a:rPr lang="en-US" sz="1200" dirty="0"/>
              <a:t>Malignant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65703207-C6D2-634C-1D6F-42FE9788D322}"/>
              </a:ext>
            </a:extLst>
          </p:cNvPr>
          <p:cNvCxnSpPr/>
          <p:nvPr/>
        </p:nvCxnSpPr>
        <p:spPr>
          <a:xfrm>
            <a:off x="9578566" y="3732948"/>
            <a:ext cx="371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3EDA62B3-9BAB-F709-115F-BCCB78B1FC4D}"/>
              </a:ext>
            </a:extLst>
          </p:cNvPr>
          <p:cNvSpPr txBox="1"/>
          <p:nvPr/>
        </p:nvSpPr>
        <p:spPr>
          <a:xfrm>
            <a:off x="6945990" y="2757001"/>
            <a:ext cx="9124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ResNet50 Backbone1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D18614B-8A77-77AF-6334-687952CA0840}"/>
              </a:ext>
            </a:extLst>
          </p:cNvPr>
          <p:cNvSpPr txBox="1"/>
          <p:nvPr/>
        </p:nvSpPr>
        <p:spPr>
          <a:xfrm>
            <a:off x="6953060" y="4289243"/>
            <a:ext cx="9124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ResNet50 Backbone2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8210C76-B1B4-2F51-B40B-F5F3A21D5428}"/>
              </a:ext>
            </a:extLst>
          </p:cNvPr>
          <p:cNvSpPr txBox="1"/>
          <p:nvPr/>
        </p:nvSpPr>
        <p:spPr>
          <a:xfrm>
            <a:off x="6973433" y="5980257"/>
            <a:ext cx="9124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ResNet50 Backbone3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0ED7A45-E366-BB17-88AF-D1AAE22F95C3}"/>
              </a:ext>
            </a:extLst>
          </p:cNvPr>
          <p:cNvSpPr txBox="1"/>
          <p:nvPr/>
        </p:nvSpPr>
        <p:spPr>
          <a:xfrm>
            <a:off x="4478465" y="2781596"/>
            <a:ext cx="19298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Lesion Boundary Mask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832D9C4-0A13-F1E2-DCA2-9BD5743B6D00}"/>
              </a:ext>
            </a:extLst>
          </p:cNvPr>
          <p:cNvSpPr txBox="1"/>
          <p:nvPr/>
        </p:nvSpPr>
        <p:spPr>
          <a:xfrm>
            <a:off x="4585588" y="4635638"/>
            <a:ext cx="19298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Lesion Center Mask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84C00E09-CD1B-DDE4-DE31-1E53FA0D22AF}"/>
              </a:ext>
            </a:extLst>
          </p:cNvPr>
          <p:cNvCxnSpPr>
            <a:cxnSpLocks/>
          </p:cNvCxnSpPr>
          <p:nvPr/>
        </p:nvCxnSpPr>
        <p:spPr>
          <a:xfrm flipV="1">
            <a:off x="6274050" y="2381764"/>
            <a:ext cx="0" cy="3050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ECCFFEC6-FA73-30D0-A95A-94E278D9CFBD}"/>
              </a:ext>
            </a:extLst>
          </p:cNvPr>
          <p:cNvSpPr/>
          <p:nvPr/>
        </p:nvSpPr>
        <p:spPr>
          <a:xfrm>
            <a:off x="6154837" y="3631265"/>
            <a:ext cx="192778" cy="2227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*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B7754CED-87A8-35DC-2C3B-12B9C096FFB5}"/>
              </a:ext>
            </a:extLst>
          </p:cNvPr>
          <p:cNvSpPr/>
          <p:nvPr/>
        </p:nvSpPr>
        <p:spPr>
          <a:xfrm>
            <a:off x="6191242" y="2147122"/>
            <a:ext cx="192778" cy="2227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*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8670B94E-60DA-8E4C-B269-FAE6292404DE}"/>
              </a:ext>
            </a:extLst>
          </p:cNvPr>
          <p:cNvCxnSpPr>
            <a:cxnSpLocks/>
          </p:cNvCxnSpPr>
          <p:nvPr/>
        </p:nvCxnSpPr>
        <p:spPr>
          <a:xfrm flipV="1">
            <a:off x="6272968" y="3853974"/>
            <a:ext cx="5510" cy="1590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1668916D-F143-9379-6847-7C1F2B5C41A0}"/>
              </a:ext>
            </a:extLst>
          </p:cNvPr>
          <p:cNvSpPr txBox="1"/>
          <p:nvPr/>
        </p:nvSpPr>
        <p:spPr>
          <a:xfrm>
            <a:off x="8663033" y="4037229"/>
            <a:ext cx="9948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Classification </a:t>
            </a:r>
          </a:p>
          <a:p>
            <a:pPr algn="ctr"/>
            <a:r>
              <a:rPr lang="en-US" sz="1200" dirty="0"/>
              <a:t>Head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55FEB5C-872A-81D1-D8C8-17C068BF623B}"/>
              </a:ext>
            </a:extLst>
          </p:cNvPr>
          <p:cNvSpPr txBox="1"/>
          <p:nvPr/>
        </p:nvSpPr>
        <p:spPr>
          <a:xfrm>
            <a:off x="1109052" y="3471339"/>
            <a:ext cx="92118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US Image</a:t>
            </a:r>
          </a:p>
        </p:txBody>
      </p:sp>
    </p:spTree>
    <p:extLst>
      <p:ext uri="{BB962C8B-B14F-4D97-AF65-F5344CB8AC3E}">
        <p14:creationId xmlns:p14="http://schemas.microsoft.com/office/powerpoint/2010/main" val="91236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4228C-1A71-C498-3533-29B628A7C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BE66F-072C-0839-ADD1-D9D4B1BCE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Experimental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9CADE-BB8B-BE3A-F00A-C5C8567C8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1175"/>
            <a:ext cx="10515600" cy="468578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Dataset Details: </a:t>
            </a:r>
          </a:p>
          <a:p>
            <a:r>
              <a:rPr lang="en-US" dirty="0"/>
              <a:t>Train and Validation set: 507 Images </a:t>
            </a:r>
          </a:p>
          <a:p>
            <a:r>
              <a:rPr lang="en-US" dirty="0"/>
              <a:t>Test set:  180 US images. </a:t>
            </a:r>
          </a:p>
          <a:p>
            <a:pPr marL="0" indent="0">
              <a:buNone/>
            </a:pPr>
            <a:r>
              <a:rPr lang="en-US" dirty="0"/>
              <a:t>	1) Malignant Sample: 41 </a:t>
            </a:r>
          </a:p>
          <a:p>
            <a:pPr marL="0" indent="0">
              <a:buNone/>
            </a:pPr>
            <a:r>
              <a:rPr lang="en-US" dirty="0"/>
              <a:t>	2) Benign Samples: 139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graph of a curve&#10;&#10;AI-generated content may be incorrect.">
            <a:extLst>
              <a:ext uri="{FF2B5EF4-FFF2-40B4-BE49-F238E27FC236}">
                <a16:creationId xmlns:a16="http://schemas.microsoft.com/office/drawing/2014/main" id="{C5778A30-4533-4142-81E5-31BBEA320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747" y="2326411"/>
            <a:ext cx="5134069" cy="3850552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E560C93-1350-CA44-3C5B-88C900029C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20184"/>
              </p:ext>
            </p:extLst>
          </p:nvPr>
        </p:nvGraphicFramePr>
        <p:xfrm>
          <a:off x="1049216" y="3834069"/>
          <a:ext cx="4268372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34186">
                  <a:extLst>
                    <a:ext uri="{9D8B030D-6E8A-4147-A177-3AD203B41FA5}">
                      <a16:colId xmlns:a16="http://schemas.microsoft.com/office/drawing/2014/main" val="1034557421"/>
                    </a:ext>
                  </a:extLst>
                </a:gridCol>
                <a:gridCol w="2134186">
                  <a:extLst>
                    <a:ext uri="{9D8B030D-6E8A-4147-A177-3AD203B41FA5}">
                      <a16:colId xmlns:a16="http://schemas.microsoft.com/office/drawing/2014/main" val="25401019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AUC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948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DenseNet121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0389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ResNet50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515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VGG16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173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199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7435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7B19C-4C66-252C-B7F1-D403FABC3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130F9-BD65-A2AD-15A4-8625BC854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Experimental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10FD8-6AC3-B0DF-B6F5-2895AD02B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1175"/>
            <a:ext cx="10515600" cy="468578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Dataset Details: </a:t>
            </a:r>
          </a:p>
          <a:p>
            <a:r>
              <a:rPr lang="en-US" dirty="0"/>
              <a:t>Train and Validation set: 507 Images </a:t>
            </a:r>
          </a:p>
          <a:p>
            <a:r>
              <a:rPr lang="en-US" dirty="0"/>
              <a:t>Test set:  180 US images. </a:t>
            </a:r>
          </a:p>
          <a:p>
            <a:pPr marL="0" indent="0">
              <a:buNone/>
            </a:pPr>
            <a:r>
              <a:rPr lang="en-US" dirty="0"/>
              <a:t>	1) Malignant Sample: 41 </a:t>
            </a:r>
          </a:p>
          <a:p>
            <a:pPr marL="0" indent="0">
              <a:buNone/>
            </a:pPr>
            <a:r>
              <a:rPr lang="en-US" dirty="0"/>
              <a:t>	2) Benign Samples: 139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graph of a curve&#10;&#10;AI-generated content may be incorrect.">
            <a:extLst>
              <a:ext uri="{FF2B5EF4-FFF2-40B4-BE49-F238E27FC236}">
                <a16:creationId xmlns:a16="http://schemas.microsoft.com/office/drawing/2014/main" id="{C5DBC7DE-CDEA-D22E-B5DD-EFB7D90B1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747" y="2326411"/>
            <a:ext cx="5134069" cy="3850552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BA73CCB-C8FA-2900-0914-1BF1CAB43F81}"/>
              </a:ext>
            </a:extLst>
          </p:cNvPr>
          <p:cNvGraphicFramePr>
            <a:graphicFrameLocks noGrp="1"/>
          </p:cNvGraphicFramePr>
          <p:nvPr/>
        </p:nvGraphicFramePr>
        <p:xfrm>
          <a:off x="1049216" y="3834069"/>
          <a:ext cx="4268372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34186">
                  <a:extLst>
                    <a:ext uri="{9D8B030D-6E8A-4147-A177-3AD203B41FA5}">
                      <a16:colId xmlns:a16="http://schemas.microsoft.com/office/drawing/2014/main" val="1034557421"/>
                    </a:ext>
                  </a:extLst>
                </a:gridCol>
                <a:gridCol w="2134186">
                  <a:extLst>
                    <a:ext uri="{9D8B030D-6E8A-4147-A177-3AD203B41FA5}">
                      <a16:colId xmlns:a16="http://schemas.microsoft.com/office/drawing/2014/main" val="25401019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AUC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948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DenseNet121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0389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ResNet50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515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VGG16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173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199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1672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997F9-C8ED-11A1-8347-45FCACA06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F278D-C52F-8846-36C0-A38B9254B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Experimental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583FA-427C-E2C3-A9C0-DB87F686E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1175"/>
            <a:ext cx="10515600" cy="468578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Dataset Details: </a:t>
            </a:r>
          </a:p>
          <a:p>
            <a:r>
              <a:rPr lang="en-US" dirty="0"/>
              <a:t>Train and Validation set: 507 Images </a:t>
            </a:r>
          </a:p>
          <a:p>
            <a:r>
              <a:rPr lang="en-US" dirty="0"/>
              <a:t>Test set:  180 US images. </a:t>
            </a:r>
          </a:p>
          <a:p>
            <a:pPr marL="0" indent="0">
              <a:buNone/>
            </a:pPr>
            <a:r>
              <a:rPr lang="en-US" dirty="0"/>
              <a:t>	1) Malignant Sample: 41 </a:t>
            </a:r>
          </a:p>
          <a:p>
            <a:pPr marL="0" indent="0">
              <a:buNone/>
            </a:pPr>
            <a:r>
              <a:rPr lang="en-US" dirty="0"/>
              <a:t>	2) Benign Samples: 139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6B822A3-91C1-3188-64C4-ACD13743B2B9}"/>
              </a:ext>
            </a:extLst>
          </p:cNvPr>
          <p:cNvGraphicFramePr>
            <a:graphicFrameLocks noGrp="1"/>
          </p:cNvGraphicFramePr>
          <p:nvPr/>
        </p:nvGraphicFramePr>
        <p:xfrm>
          <a:off x="1049216" y="3834069"/>
          <a:ext cx="4268372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34186">
                  <a:extLst>
                    <a:ext uri="{9D8B030D-6E8A-4147-A177-3AD203B41FA5}">
                      <a16:colId xmlns:a16="http://schemas.microsoft.com/office/drawing/2014/main" val="1034557421"/>
                    </a:ext>
                  </a:extLst>
                </a:gridCol>
                <a:gridCol w="2134186">
                  <a:extLst>
                    <a:ext uri="{9D8B030D-6E8A-4147-A177-3AD203B41FA5}">
                      <a16:colId xmlns:a16="http://schemas.microsoft.com/office/drawing/2014/main" val="25401019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AUC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948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DenseNet121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0389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ResNet50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515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VGG16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173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199784"/>
                  </a:ext>
                </a:extLst>
              </a:tr>
            </a:tbl>
          </a:graphicData>
        </a:graphic>
      </p:graphicFrame>
      <p:pic>
        <p:nvPicPr>
          <p:cNvPr id="6" name="Picture 5" descr="A graph with a line&#10;&#10;AI-generated content may be incorrect.">
            <a:extLst>
              <a:ext uri="{FF2B5EF4-FFF2-40B4-BE49-F238E27FC236}">
                <a16:creationId xmlns:a16="http://schemas.microsoft.com/office/drawing/2014/main" id="{23832A5A-473C-4C08-49C2-EBBE16C99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030" y="2816738"/>
            <a:ext cx="4704754" cy="3528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762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</TotalTime>
  <Words>219</Words>
  <Application>Microsoft Office PowerPoint</Application>
  <PresentationFormat>Widescreen</PresentationFormat>
  <Paragraphs>77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Georgia</vt:lpstr>
      <vt:lpstr>Office Theme</vt:lpstr>
      <vt:lpstr>Robust Multimodal Deep Learning Model For Ovarian Tumor Classification </vt:lpstr>
      <vt:lpstr>Aim</vt:lpstr>
      <vt:lpstr>Model Architecture</vt:lpstr>
      <vt:lpstr>Experimental Results</vt:lpstr>
      <vt:lpstr>Experimental Results</vt:lpstr>
      <vt:lpstr>Experimental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Ritchie, Jackie</dc:creator>
  <cp:lastModifiedBy>Md. Iqbal Hossain</cp:lastModifiedBy>
  <cp:revision>16</cp:revision>
  <dcterms:created xsi:type="dcterms:W3CDTF">2024-09-10T18:26:39Z</dcterms:created>
  <dcterms:modified xsi:type="dcterms:W3CDTF">2025-07-28T14:34:07Z</dcterms:modified>
</cp:coreProperties>
</file>